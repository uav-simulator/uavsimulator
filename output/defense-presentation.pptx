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1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8"/>
  </p:notesMasterIdLst>
  <p:sldIdLst>
    <p:sldId id="273" r:id="rId2"/>
    <p:sldId id="289" r:id="rId3"/>
    <p:sldId id="290" r:id="rId4"/>
    <p:sldId id="276" r:id="rId5"/>
    <p:sldId id="291" r:id="rId6"/>
    <p:sldId id="278" r:id="rId7"/>
    <p:sldId id="292" r:id="rId8"/>
    <p:sldId id="293" r:id="rId9"/>
    <p:sldId id="281" r:id="rId10"/>
    <p:sldId id="282" r:id="rId11"/>
    <p:sldId id="283" r:id="rId12"/>
    <p:sldId id="284" r:id="rId13"/>
    <p:sldId id="285" r:id="rId14"/>
    <p:sldId id="286" r:id="rId15"/>
    <p:sldId id="287" r:id="rId16"/>
    <p:sldId id="288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10"/>
  </p:normalViewPr>
  <p:slideViewPr>
    <p:cSldViewPr snapToGrid="0" snapToObjects="1">
      <p:cViewPr varScale="1">
        <p:scale>
          <a:sx n="132" d="100"/>
          <a:sy n="132" d="100"/>
        </p:scale>
        <p:origin x="176" y="8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E6EDF3"/>
                </a:solidFill>
                <a:latin typeface="Arial"/>
              </a:defRPr>
            </a:pPr>
            <a:r>
              <a:rPr sz="1100" b="0" i="0" u="none" strike="noStrike">
                <a:solidFill>
                  <a:srgbClr val="E6EDF3"/>
                </a:solidFill>
                <a:latin typeface="Arial"/>
              </a:rPr>
              <a:t>Шаги до завершения по эпизодам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Шаги до завершения</c:v>
                </c:pt>
              </c:strCache>
            </c:strRef>
          </c:tx>
          <c:spPr>
            <a:solidFill>
              <a:srgbClr val="00BFA6"/>
            </a:solidFill>
            <a:effectLst/>
          </c:spPr>
          <c:invertIfNegative val="0"/>
          <c:cat>
            <c:strRef>
              <c:f>Sheet1!$A$2:$A$21</c:f>
              <c:strCache>
                <c:ptCount val="20"/>
                <c:pt idx="0">
                  <c:v>Ep.1</c:v>
                </c:pt>
                <c:pt idx="1">
                  <c:v>Ep.2</c:v>
                </c:pt>
                <c:pt idx="2">
                  <c:v>Ep.3</c:v>
                </c:pt>
                <c:pt idx="3">
                  <c:v>Ep.4</c:v>
                </c:pt>
                <c:pt idx="4">
                  <c:v>Ep.5</c:v>
                </c:pt>
                <c:pt idx="5">
                  <c:v>Ep.6</c:v>
                </c:pt>
                <c:pt idx="6">
                  <c:v>Ep.7</c:v>
                </c:pt>
                <c:pt idx="7">
                  <c:v>Ep.8</c:v>
                </c:pt>
                <c:pt idx="8">
                  <c:v>Ep.9</c:v>
                </c:pt>
                <c:pt idx="9">
                  <c:v>Ep.10</c:v>
                </c:pt>
                <c:pt idx="10">
                  <c:v>Ep.11</c:v>
                </c:pt>
                <c:pt idx="11">
                  <c:v>Ep.12</c:v>
                </c:pt>
                <c:pt idx="12">
                  <c:v>Ep.13</c:v>
                </c:pt>
                <c:pt idx="13">
                  <c:v>Ep.14</c:v>
                </c:pt>
                <c:pt idx="14">
                  <c:v>Ep.15</c:v>
                </c:pt>
                <c:pt idx="15">
                  <c:v>Ep.16</c:v>
                </c:pt>
                <c:pt idx="16">
                  <c:v>Ep.17</c:v>
                </c:pt>
                <c:pt idx="17">
                  <c:v>Ep.18</c:v>
                </c:pt>
                <c:pt idx="18">
                  <c:v>Ep.19</c:v>
                </c:pt>
                <c:pt idx="19">
                  <c:v>Ep.20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203</c:v>
                </c:pt>
                <c:pt idx="1">
                  <c:v>211</c:v>
                </c:pt>
                <c:pt idx="2">
                  <c:v>199</c:v>
                </c:pt>
                <c:pt idx="3">
                  <c:v>203</c:v>
                </c:pt>
                <c:pt idx="4">
                  <c:v>204</c:v>
                </c:pt>
                <c:pt idx="5">
                  <c:v>208</c:v>
                </c:pt>
                <c:pt idx="6">
                  <c:v>203</c:v>
                </c:pt>
                <c:pt idx="7">
                  <c:v>208</c:v>
                </c:pt>
                <c:pt idx="8">
                  <c:v>208</c:v>
                </c:pt>
                <c:pt idx="9">
                  <c:v>203</c:v>
                </c:pt>
                <c:pt idx="10">
                  <c:v>207</c:v>
                </c:pt>
                <c:pt idx="11">
                  <c:v>206</c:v>
                </c:pt>
                <c:pt idx="12">
                  <c:v>202</c:v>
                </c:pt>
                <c:pt idx="13">
                  <c:v>201</c:v>
                </c:pt>
                <c:pt idx="14">
                  <c:v>198</c:v>
                </c:pt>
                <c:pt idx="15">
                  <c:v>206</c:v>
                </c:pt>
                <c:pt idx="16">
                  <c:v>204</c:v>
                </c:pt>
                <c:pt idx="17">
                  <c:v>196</c:v>
                </c:pt>
                <c:pt idx="18">
                  <c:v>200</c:v>
                </c:pt>
                <c:pt idx="19">
                  <c:v>208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AE6-014E-8017-8E13D9173B3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0363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61B2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3301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Здравствуйте, уважаемые члены комиссии! Меня зовут Горовенко Никита, я представляю магистерскую диссертацию на тему разработки расширяемой программной платформы симуляции для обучения автономного управления робототехнической платформой KS0223. Работа выполнена в рамках направления 09.04.04 Программная инженерия.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Обучение автономному управлению на реальном роботе сопряжено с тремя ключевыми проблемами:
1. Высокая стоимость — реальные испытания требуют физического оборудования и могут повредить робота.
2. Низкая скорость — каждый эксперимент проходит в реальном времени, невозможно ускорить сбор данных.
3. Невоспроизводимость — условия реального мира меняются между запусками.
Симуляция решает все три проблемы: безопасная среда, масштабируемое время, полная воспроизводимость. Наша платформа добавляет расширяемость через плагины.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Цель работы — разработать расширяемую платформу симуляции в Unity для обучения автономного управления KS0223.
Задачи:
1. Модульная архитектура из 4 компонентов
2. Физическая модель робота с камерой, ультразвуком, датчиком линии
3. Система плагинов для расширения
4. Полный model lifecycle
5. ROS2 интеграция
6. Экспериментальная оценка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Основные аналоги:
1. CARLA — open-source симулятор на UE4 для автомобилей. Богатый функционал, но привязан к автомобилям, нет model lifecycle, нет Web UI.
2. AirSim — Microsoft, для дронов и автомобилей, но проект архивирован, низкая расширяемость.
3. Gazebo — стандарт в ROS-экосистеме, но собственный движок со слабой графикой, нет Web UI, нет model lifecycle.
Наша платформа выигрывает в: полном E2E pipeline от обучения до деплоя, Web UI оператора, системе плагинов, интеграции с ROS2. Ключевое отличие — полный model lifecycle management, которого нет ни у одного аналога.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Архитектура платформы состоит из четырех основных компонентов:
1. Unity Runtime — ядро симуляции. Физика, сенсоры, HTTP JSON API для управления. Эндпоинты: /health, /contract, /reset, /step.
2. Backend на ASP.NET Core — оператор-сервер. Управление моделями (ONNX), автопилотом, сессиями. SignalR для real-time. Поддерживает два runtime provider: unity-sim и real-robot.
3. Web UI — React-приложение с MUI. Операторский пульт: камера, телеметрия, управление моделями.
4. Python tooling — обучение моделей, экспорт ONNX, KPI-оценка.
Всё связано через rusim CLI — единую точку входа для разработчика.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Unity Runtime — ядро платформы на Unity 6.
Step-based API: каждый вызов POST /step принимает throttle, steer, brake и возвращает полное состояние: позиция, скорость, сенсоры, camera frame в base64.
На скриншотах видна арена с разметкой и робот KS0223. Трасса имеет повороты для тестирования навигации.
Сценарии описываются в YAML: трек, робот, сенсоры, маршрут. Полная воспроизводимость через seed.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Робот KS0223 — двухколёсный дифференциальный робот Keyestudio.
Основные параметры: макс. скорость 2.2 м/с, ускорение 4.0 м/с².
Сенсоры: фронтальная камера 1280x720, 5-сегментный датчик линии, ультразвуковой дальномер до 3.5 м, одометрия.
Два режима управления: высокоуровневый (throttle/steer/brake для нейросети) и низкоуровневый (PWM для прямого управления моторами). Физика реализована через Unity Rigidbody с настроенным демпфированием.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Оператор-стек состоит из backend и Web UI.
Backend на ASP.NET Core включает:
- ModelRegistryService — управление моделями в формате ONNX
- AutopilotService — запуск inference loop через ONNX Runtime
- RuntimeProvider — абстракция для переключения между симулятором и реальным роботом
- SessionManager — поддержка нескольких клиентов
Web UI на React предоставляет полный операторский пульт: видео с камеры, телеметрия, управление моделями. На скриншоте виден интерфейс Control Center с подключением, control pad и секцией камеры.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Ключевое преимущество платформы — полный E2E model lifecycle.
Пайплайн:
1. Train — обучение через RL в Python (Gymnasium + HTTP API к симулятору)
2. Export — сохранение в ONNX с metadata.json и metrics.json
3. Upload — загрузка артефакта через REST API или CLI
4. Activate — выбор конкретной версии модели
5. Run — запуск autopilot inference loop на backend
6. Evaluate — сбор KPI через 20 эпизодов
Артефакт модели: model.onnx (нейросеть), metadata.json (описание входов/выходов), metrics.json (метрики обучения). На скриншоте виден интерфейс Model Control с загруженной моделью и работающим автопилотом.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Система плагинов — ключевая особенность архитектуры.
Plugin SDK — UPM-пакет с базовыми классами для создания роботов и трасс. PluginRegistry — ScriptableObject, единый каталог с версионированием.
Два типа плагинов: Vehicle (робот + физика + сенсоры) и Track (среда + маршрут).
Сейчас каталог включает 7 роботов (KS0223, автомобили, дрон) и 4 трассы. CLI: rusim plugin new/install/list/remove.
Это позволяет внешним разработчикам расширять платформу без модификации ядра.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Обучение модели реализовано через Python tooling.
Pipeline: Gymnasium Environment (обёртка над HTTP API) → RL алгоритм (PPO/SAC) → экспорт в ONNX → KPI-оценка на 20 эпизодах.
Два типа observation space:
1. Vision Policy — мультимодальная: изображение 84x84 RGB + ультразвук
2. Flat Policy — числовой вектор: скорость, руль, расстояние до центра, ошибка курса, сенсоры
Action space: throttle и steer, оба в диапазоне [-1, 1].
Reward shaping: награда за прогресс по маршруту, штраф за отклонение от центральной линии и выход за границы, бонус за достижение цели.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ROS2 Bridge — ключевой компонент для sim-to-real.
Мост транслирует данные между HTTP JSON API симулятора и ROS2 топиками. Это позволяет использовать симулятор как виртуальный ROS2-робот.
Publish: одометрия, камера (raw + compressed), ультразвук, датчик линии, спидометр, батарея.
Subscribe: /cmd_vel (стандарт ROS навигации — Twist сообщения) и /cmd_drive (прямое PWM управление).
Доступны Docker-образы для быстрого старта: make demo-up запускает ROS2 + bridge + rqt.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Sim-to-Real — архитектурное решение, а не просто перенос модели.
Backend абстрагирует runtime через RuntimeProvider: UnityKs0223RuntimeProvider для симуляции, RealKs0223RuntimeProvider для реального робота.
В симуляции: HTTP API, идеальные условия, быстрое обучение.
На реальном роботе: TCP к Raspberry Pi (порт 5051), UDP видеопоток, реальные сенсоры с шумом.
Ключевое: та же ONNX модель, тот же backend, тот же Web UI. Меняется только транспорт. Это минимизирует domain gap при трансфере.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Экспериментальная оценка проводилась на 20 эпизодах с baseline моделью.
Результаты:
- 20 из 20 эпизодов завершились out_of_bounds
- Среднее количество шагов: 203.9 (из макс. 220)
- Максимальное отклонение от центральной линии: 0.76 м
- Success rate: 0%
Анализ: модель уверенно проходит прямой участок, но не справляется с первым поворотом. Все эпизоды завершаются в одной точке (routeIndex=2, waypoint 3 из 5).
Важно: стабильное поведение (малый разброс шагов) подтверждает воспроизводимость платформы. Pipeline работает end-to-end: обучение → загрузка → активация → автопилот → оценка.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Практическая значимость для трёх аудиторий:
1. Исследователи — получают платформу для экспериментов с RL в робототехнике. Воспроизводимость через сценарии и seed, KPI-оценка.
2. Разработчики — расширяемая архитектура с Plugin SDK. Можно добавить нового робота или трассу без модификации ядра.
3. Образование — безопасная среда для обучения робототехнике. Web UI оператора делает платформу доступной для студентов.
Ключевые цифры: 7 роботов, 4 трассы, 6 ROS2 топиков, полный E2E pipeline, 2 runtime режима (симуляция и реальный робот).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заключение:
Все 6 задач выполнены:
1. Модульная архитектура из 4 компонентов
2. Физическая модель KS0223 с 5 сенсорами
3. Система плагинов с SDK
4. Полный model lifecycle
5. ROS2 Bridge
6. Экспериментальная оценка
Направления развития:
- Domain Randomization для уменьшения domain gap
- Multi-agent сценарии
Спасибо за внимание! Готов ответить на вопросы.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opAccent"/>
          <p:cNvSpPr/>
          <p:nvPr userDrawn="1"/>
        </p:nvSpPr>
        <p:spPr>
          <a:xfrm>
            <a:off x="0" y="0"/>
            <a:ext cx="9144000" cy="57150"/>
          </a:xfrm>
          <a:prstGeom prst="rect">
            <a:avLst/>
          </a:prstGeom>
          <a:gradFill>
            <a:gsLst>
              <a:gs pos="0">
                <a:srgbClr val="2563EB"/>
              </a:gs>
              <a:gs pos="50000">
                <a:srgbClr val="7C3AED"/>
              </a:gs>
              <a:gs pos="100000">
                <a:srgbClr val="059669"/>
              </a:gs>
            </a:gsLst>
            <a:lin ang="0" scaled="1"/>
          </a:gradFill>
          <a:ln w="0">
            <a:noFill/>
          </a:ln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1E293B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rgbClr val="334155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rgbClr val="334155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rgbClr val="334155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rgbClr val="334155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rgbClr val="334155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rgbClr val="334155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rgbClr val="334155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rgbClr val="334155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rgbClr val="334155"/>
          </a:solidFill>
          <a:latin typeface="+mn-lt"/>
          <a:ea typeface="+mn-ea"/>
          <a:cs typeface="+mn-cs"/>
        </a:defRPr>
      </a:lvl9pPr>
    </p:bodyStyle>
    <p:otherStyle>
      <a:defPPr>
        <a:defRPr lang="en-US">
          <a:solidFill>
            <a:srgbClr val="334155"/>
          </a:solidFill>
        </a:defRPr>
      </a:defPPr>
      <a:lvl1pPr marL="0" algn="l" defTabSz="914400" rtl="0" eaLnBrk="1" latinLnBrk="0" hangingPunct="1">
        <a:defRPr sz="1800" kern="1200">
          <a:solidFill>
            <a:srgbClr val="334155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rgbClr val="334155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rgbClr val="334155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rgbClr val="334155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rgbClr val="334155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rgbClr val="334155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rgbClr val="334155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rgbClr val="334155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rgbClr val="334155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457200"/>
            <a:ext cx="8229600" cy="279400"/>
          </a:xfr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spc="200" dirty="0">
                <a:solidFill>
                  <a:srgbClr val="64748B"/>
                </a:solidFill>
              </a:rPr>
              <a:t>СИБИРСКИЙ ФЕДЕРАЛЬНЫЙ УНИВЕРСИТЕТ</a:t>
            </a:r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54000"/>
          </a:xfr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Институт космических и информационных технологий</a:t>
            </a:r>
          </a:p>
        </p:txBody>
      </p:sp>
      <p:sp>
        <p:nvSpPr>
          <p:cNvPr id="5" name="Text 3"/>
          <p:cNvSpPr/>
          <p:nvPr/>
        </p:nvSpPr>
        <p:spPr>
          <a:xfrm>
            <a:off x="914400" y="1219200"/>
            <a:ext cx="7315200" cy="1371600"/>
          </a:xfr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E293B"/>
                </a:solidFill>
              </a:rPr>
              <a:t>Разработка расширяемой программной платформы симуляции для обучения автономного управления робототехнической платформой KS0223</a:t>
            </a:r>
          </a:p>
        </p:txBody>
      </p:sp>
      <p:sp>
        <p:nvSpPr>
          <p:cNvPr id="6" name="Text 4"/>
          <p:cNvSpPr/>
          <p:nvPr/>
        </p:nvSpPr>
        <p:spPr>
          <a:xfrm>
            <a:off x="3200400" y="2768600"/>
            <a:ext cx="2743200" cy="355600"/>
          </a:xfrm>
          <a:solidFill>
            <a:srgbClr val="EEF2FF"/>
          </a:solidFill>
          <a:ln w="9525">
            <a:solidFill>
              <a:srgbClr val="2563EB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</a:rPr>
              <a:t>Магистерская диссертация</a:t>
            </a:r>
          </a:p>
        </p:txBody>
      </p:sp>
      <p:sp>
        <p:nvSpPr>
          <p:cNvPr id="7" name="Text 5"/>
          <p:cNvSpPr/>
          <p:nvPr/>
        </p:nvSpPr>
        <p:spPr>
          <a:xfrm>
            <a:off x="1524000" y="3327400"/>
            <a:ext cx="6096000" cy="787400"/>
          </a:xfr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64748B"/>
                </a:solidFill>
              </a:rPr>
              <a:t>Выполнил:  </a:t>
            </a:r>
            <a:r>
              <a:rPr lang="en-US" sz="1200" b="1" dirty="0">
                <a:solidFill>
                  <a:srgbClr val="1E293B"/>
                </a:solidFill>
              </a:rPr>
              <a:t>Горовенко Никита Михайлович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Направление:  </a:t>
            </a:r>
            <a:r>
              <a:rPr lang="en-US" sz="1100" dirty="0">
                <a:solidFill>
                  <a:srgbClr val="1E293B"/>
                </a:solidFill>
              </a:rPr>
              <a:t>09.04.04 Программная инженерия</a:t>
            </a:r>
          </a:p>
        </p:txBody>
      </p:sp>
      <p:sp>
        <p:nvSpPr>
          <p:cNvPr id="8" name="Text 6"/>
          <p:cNvSpPr/>
          <p:nvPr/>
        </p:nvSpPr>
        <p:spPr>
          <a:xfrm>
            <a:off x="457200" y="4699000"/>
            <a:ext cx="8229600" cy="254000"/>
          </a:xfr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Красноярск, 2026</a:t>
            </a:r>
          </a:p>
        </p:txBody>
      </p:sp>
      <p:sp>
        <p:nvSpPr>
          <p:cNvPr id="100" name="AccentLine"/>
          <p:cNvSpPr/>
          <p:nvPr/>
        </p:nvSpPr>
        <p:spPr>
          <a:xfrm>
            <a:off x="3302000" y="1016000"/>
            <a:ext cx="2540000" cy="0"/>
          </a:xfrm>
          <a:prstGeom prst="line">
            <a:avLst/>
          </a:prstGeom>
          <a:ln w="19050">
            <a:gradFill>
              <a:gsLst>
                <a:gs pos="0">
                  <a:srgbClr val="2563EB"/>
                </a:gs>
                <a:gs pos="100000">
                  <a:srgbClr val="7C3AED"/>
                </a:gs>
              </a:gsLst>
              <a:lin ang="0" scaled="1"/>
            </a:gradFill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263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gradFill>
            <a:gsLst>
              <a:gs pos="0">
                <a:srgbClr val="2563EB"/>
              </a:gs>
              <a:gs pos="50000">
                <a:srgbClr val="7C3AED"/>
              </a:gs>
              <a:gs pos="100000">
                <a:srgbClr val="059669"/>
              </a:gs>
            </a:gsLst>
            <a:lin ang="0" scaled="1"/>
          </a:gra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Актуальность и проблема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840480" cy="1051560"/>
          </a:xfrm>
          <a:prstGeom prst="rect">
            <a:avLst/>
          </a:prstGeom>
          <a:solidFill>
            <a:srgbClr val="F8FAFC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64008" cy="105156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731520" y="10789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Дорого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3716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Реальные испытания требуют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физического оборудования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могут повредить робота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3840480" cy="1051560"/>
          </a:xfrm>
          <a:prstGeom prst="rect">
            <a:avLst/>
          </a:prstGeom>
          <a:solidFill>
            <a:srgbClr val="F8FAFC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64008" cy="105156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731520" y="23134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Медленно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26060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эксперимент в реальном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времени, невозможно ускорить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сбор данных для обучения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474720"/>
            <a:ext cx="3840480" cy="1051560"/>
          </a:xfrm>
          <a:prstGeom prst="rect">
            <a:avLst/>
          </a:prstGeom>
          <a:solidFill>
            <a:srgbClr val="F8FAFC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4" name="Shape 12"/>
          <p:cNvSpPr/>
          <p:nvPr/>
        </p:nvSpPr>
        <p:spPr>
          <a:xfrm>
            <a:off x="457200" y="3474720"/>
            <a:ext cx="64008" cy="105156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Text 13"/>
          <p:cNvSpPr/>
          <p:nvPr/>
        </p:nvSpPr>
        <p:spPr>
          <a:xfrm>
            <a:off x="731520" y="35478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Невоспроизводимо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31520" y="38404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Условия реального мира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меняются между запусками,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сравнение затруднено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1005840"/>
            <a:ext cx="3931920" cy="3840480"/>
          </a:xfrm>
          <a:prstGeom prst="rect">
            <a:avLst/>
          </a:prstGeom>
          <a:solidFill>
            <a:srgbClr val="F8FAFC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8" name="Shape 16"/>
          <p:cNvSpPr/>
          <p:nvPr/>
        </p:nvSpPr>
        <p:spPr>
          <a:xfrm>
            <a:off x="4754880" y="1005840"/>
            <a:ext cx="64008" cy="384048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9" name="Text 17"/>
          <p:cNvSpPr/>
          <p:nvPr/>
        </p:nvSpPr>
        <p:spPr>
          <a:xfrm>
            <a:off x="5029200" y="10972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Решение: симуляция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029200" y="160020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✓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Безопасная среда для обучения</a:t>
            </a:r>
            <a:endParaRPr lang="en-US" sz="1100" dirty="0"/>
          </a:p>
          <a:p>
            <a:pPr marL="342900" indent="-342900">
              <a:lnSpc>
                <a:spcPct val="120000"/>
              </a:lnSpc>
              <a:buSzPct val="100000"/>
              <a:buChar char="✓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риска повреждения оборудования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0" y="237744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✓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Ускоренный сбор данных:</a:t>
            </a:r>
            <a:endParaRPr lang="en-US" sz="1100" dirty="0"/>
          </a:p>
          <a:p>
            <a:pPr marL="342900" indent="-342900">
              <a:lnSpc>
                <a:spcPct val="120000"/>
              </a:lnSpc>
              <a:buSzPct val="100000"/>
              <a:buChar char="✓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время симуляции можно масштабировать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0" y="315468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✓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Полная воспроизводимость:</a:t>
            </a:r>
            <a:endParaRPr lang="en-US" sz="1100" dirty="0"/>
          </a:p>
          <a:p>
            <a:pPr marL="342900" indent="-342900">
              <a:lnSpc>
                <a:spcPct val="120000"/>
              </a:lnSpc>
              <a:buSzPct val="100000"/>
              <a:buChar char="✓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сценарии и seed для повторения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0" y="393192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✓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Расширяемость: новые роботы,</a:t>
            </a:r>
            <a:endParaRPr lang="en-US" sz="1100" dirty="0"/>
          </a:p>
          <a:p>
            <a:pPr marL="342900" indent="-342900">
              <a:lnSpc>
                <a:spcPct val="120000"/>
              </a:lnSpc>
              <a:buSzPct val="100000"/>
              <a:buChar char="✓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трассы, сенсоры через плагины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503976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gradFill>
            <a:gsLst>
              <a:gs pos="0">
                <a:srgbClr val="2563EB"/>
              </a:gs>
              <a:gs pos="50000">
                <a:srgbClr val="7C3AED"/>
              </a:gs>
              <a:gs pos="100000">
                <a:srgbClr val="059669"/>
              </a:gs>
            </a:gsLst>
            <a:lin ang="0" scaled="1"/>
          </a:gra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Цель и задачи работы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solidFill>
            <a:srgbClr val="F8FAFC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8229600" cy="6400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640080" y="10972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Разработать расширяемую платформу симуляции в Unity для проведения экспериментов по обучению автономного управления и sim-to-real трансферу для робототехнической платформы KS0223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103120"/>
            <a:ext cx="3931920" cy="777240"/>
          </a:xfrm>
          <a:prstGeom prst="rect">
            <a:avLst/>
          </a:prstGeom>
          <a:solidFill>
            <a:srgbClr val="F8FAFC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594360" y="2194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05840" y="219456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Спроектировать модульную архитектуру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симулятора (runtime, backend, CLI, Python)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063240"/>
            <a:ext cx="3931920" cy="777240"/>
          </a:xfrm>
          <a:prstGeom prst="rect">
            <a:avLst/>
          </a:prstGeom>
          <a:solidFill>
            <a:srgbClr val="F8FAFC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594360" y="3154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5840" y="315468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Реализовать физическую модель робота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KS0223 с набором сенсоров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023360"/>
            <a:ext cx="3931920" cy="777240"/>
          </a:xfrm>
          <a:prstGeom prst="rect">
            <a:avLst/>
          </a:prstGeom>
          <a:solidFill>
            <a:srgbClr val="F8FAFC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594360" y="4114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05840" y="41148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Разработать систему плагинов для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расширения каталога роботов и трасс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2103120"/>
            <a:ext cx="3931920" cy="777240"/>
          </a:xfrm>
          <a:prstGeom prst="rect">
            <a:avLst/>
          </a:prstGeom>
          <a:solidFill>
            <a:srgbClr val="F8FAFC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9" name="Text 17"/>
          <p:cNvSpPr/>
          <p:nvPr/>
        </p:nvSpPr>
        <p:spPr>
          <a:xfrm>
            <a:off x="4892040" y="2194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303520" y="219456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Реализовать полный цикл модели: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обучение, загрузка, активация, запуск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3063240"/>
            <a:ext cx="3931920" cy="777240"/>
          </a:xfrm>
          <a:prstGeom prst="rect">
            <a:avLst/>
          </a:prstGeom>
          <a:solidFill>
            <a:srgbClr val="F8FAFC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2" name="Text 20"/>
          <p:cNvSpPr/>
          <p:nvPr/>
        </p:nvSpPr>
        <p:spPr>
          <a:xfrm>
            <a:off x="4892040" y="3154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303520" y="315468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Интегрировать платформу с ROS2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sim-to-real трансфера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4023360"/>
            <a:ext cx="3931920" cy="777240"/>
          </a:xfrm>
          <a:prstGeom prst="rect">
            <a:avLst/>
          </a:prstGeom>
          <a:solidFill>
            <a:srgbClr val="F8FAFC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5" name="Text 23"/>
          <p:cNvSpPr/>
          <p:nvPr/>
        </p:nvSpPr>
        <p:spPr>
          <a:xfrm>
            <a:off x="4892040" y="4114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303520" y="41148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Провести экспериментальную оценку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качества обученных моделей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027393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gradFill>
            <a:gsLst>
              <a:gs pos="0">
                <a:srgbClr val="2563EB"/>
              </a:gs>
              <a:gs pos="50000">
                <a:srgbClr val="7C3AED"/>
              </a:gs>
              <a:gs pos="100000">
                <a:srgbClr val="059669"/>
              </a:gs>
            </a:gsLst>
            <a:lin ang="0" scaled="1"/>
          </a:gra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Обзор аналогов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365760" y="1005840"/>
          <a:ext cx="8412480" cy="352044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Критерий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CARLA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AirSim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Gazebo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uav-simulator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Движок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UE4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UE4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Собственный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Unity 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Целевые ТС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Автомобили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Дроны, авто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Произвольные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Роботы, авто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Расширяемость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Средняя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Низкая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Высокая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Плагины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API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Есть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Есть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Частично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Есть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ROS2 интеграция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Через мост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Нативная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Мост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lifecycle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E2E pipeline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UI оператора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Частично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Полный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Sim-to-real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Ограниченно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Частично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Есть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Сценарии (YAML)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SDF/URDF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YAML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Лицензия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Apache 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Проприетарная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20655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gradFill>
            <a:gsLst>
              <a:gs pos="0">
                <a:srgbClr val="2563EB"/>
              </a:gs>
              <a:gs pos="50000">
                <a:srgbClr val="7C3AED"/>
              </a:gs>
              <a:gs pos="100000">
                <a:srgbClr val="059669"/>
              </a:gs>
            </a:gsLst>
            <a:lin ang="0" scaled="1"/>
          </a:gra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Архитектура платформы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828800" cy="1280160"/>
          </a:xfrm>
          <a:prstGeom prst="rect">
            <a:avLst/>
          </a:prstGeom>
          <a:solidFill>
            <a:srgbClr val="F8FAFC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828800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Runtime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8745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Физика, сенсоры,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JSON API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0" y="1371600"/>
            <a:ext cx="1828800" cy="1280160"/>
          </a:xfrm>
          <a:prstGeom prst="rect">
            <a:avLst/>
          </a:prstGeom>
          <a:solidFill>
            <a:srgbClr val="F8FAFC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0" name="Shape 8"/>
          <p:cNvSpPr/>
          <p:nvPr/>
        </p:nvSpPr>
        <p:spPr>
          <a:xfrm>
            <a:off x="2560320" y="1371600"/>
            <a:ext cx="1828800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2651760" y="15087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651760" y="18745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Core,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SignalR, ONNX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1371600"/>
            <a:ext cx="1828800" cy="1280160"/>
          </a:xfrm>
          <a:prstGeom prst="rect">
            <a:avLst/>
          </a:prstGeom>
          <a:solidFill>
            <a:srgbClr val="F8FAFC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4" name="Shape 12"/>
          <p:cNvSpPr/>
          <p:nvPr/>
        </p:nvSpPr>
        <p:spPr>
          <a:xfrm>
            <a:off x="4663440" y="1371600"/>
            <a:ext cx="1828800" cy="54864"/>
          </a:xfrm>
          <a:prstGeom prst="rect">
            <a:avLst/>
          </a:prstGeom>
          <a:solidFill>
            <a:srgbClr val="BC8C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Text 13"/>
          <p:cNvSpPr/>
          <p:nvPr/>
        </p:nvSpPr>
        <p:spPr>
          <a:xfrm>
            <a:off x="4754880" y="15087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UI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54880" y="18745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MUI,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операторский пульт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66560" y="1371600"/>
            <a:ext cx="1828800" cy="1280160"/>
          </a:xfrm>
          <a:prstGeom prst="rect">
            <a:avLst/>
          </a:prstGeom>
          <a:solidFill>
            <a:srgbClr val="F8FAFC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8" name="Shape 16"/>
          <p:cNvSpPr/>
          <p:nvPr/>
        </p:nvSpPr>
        <p:spPr>
          <a:xfrm>
            <a:off x="6766560" y="1371600"/>
            <a:ext cx="1828800" cy="54864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9" name="Text 17"/>
          <p:cNvSpPr/>
          <p:nvPr/>
        </p:nvSpPr>
        <p:spPr>
          <a:xfrm>
            <a:off x="6858000" y="15087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58000" y="18745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обучение,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экспорт, KPI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0" y="2011680"/>
            <a:ext cx="274320" cy="0"/>
          </a:xfrm>
          <a:prstGeom prst="line">
            <a:avLst/>
          </a:prstGeom>
          <a:noFill/>
          <a:ln w="19050">
            <a:solidFill>
              <a:srgbClr val="8B949E"/>
            </a:solidFill>
            <a:prstDash val="dash"/>
          </a:ln>
        </p:spPr>
        <p:txBody>
          <a:bodyPr/>
          <a:lstStyle/>
          <a:p>
            <a:endParaRPr lang="ru-RU"/>
          </a:p>
        </p:txBody>
      </p:sp>
      <p:sp>
        <p:nvSpPr>
          <p:cNvPr id="22" name="Shape 20"/>
          <p:cNvSpPr/>
          <p:nvPr/>
        </p:nvSpPr>
        <p:spPr>
          <a:xfrm>
            <a:off x="4389120" y="2011680"/>
            <a:ext cx="274320" cy="0"/>
          </a:xfrm>
          <a:prstGeom prst="line">
            <a:avLst/>
          </a:prstGeom>
          <a:noFill/>
          <a:ln w="19050">
            <a:solidFill>
              <a:srgbClr val="8B949E"/>
            </a:solidFill>
            <a:prstDash val="dash"/>
          </a:ln>
        </p:spPr>
        <p:txBody>
          <a:bodyPr/>
          <a:lstStyle/>
          <a:p>
            <a:endParaRPr lang="ru-RU"/>
          </a:p>
        </p:txBody>
      </p:sp>
      <p:sp>
        <p:nvSpPr>
          <p:cNvPr id="23" name="Shape 21"/>
          <p:cNvSpPr/>
          <p:nvPr/>
        </p:nvSpPr>
        <p:spPr>
          <a:xfrm>
            <a:off x="6492240" y="2011680"/>
            <a:ext cx="274320" cy="0"/>
          </a:xfrm>
          <a:prstGeom prst="line">
            <a:avLst/>
          </a:prstGeom>
          <a:noFill/>
          <a:ln w="19050">
            <a:solidFill>
              <a:srgbClr val="8B949E"/>
            </a:solidFill>
            <a:prstDash val="dash"/>
          </a:ln>
        </p:spPr>
        <p:txBody>
          <a:bodyPr/>
          <a:lstStyle/>
          <a:p>
            <a:endParaRPr lang="ru-RU"/>
          </a:p>
        </p:txBody>
      </p:sp>
      <p:sp>
        <p:nvSpPr>
          <p:cNvPr id="24" name="Shape 22"/>
          <p:cNvSpPr/>
          <p:nvPr/>
        </p:nvSpPr>
        <p:spPr>
          <a:xfrm>
            <a:off x="3200400" y="3017520"/>
            <a:ext cx="2743200" cy="822960"/>
          </a:xfrm>
          <a:prstGeom prst="rect">
            <a:avLst/>
          </a:prstGeom>
          <a:solidFill>
            <a:srgbClr val="F8FAFC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5" name="Shape 23"/>
          <p:cNvSpPr/>
          <p:nvPr/>
        </p:nvSpPr>
        <p:spPr>
          <a:xfrm>
            <a:off x="3200400" y="3017520"/>
            <a:ext cx="2743200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6" name="Text 24"/>
          <p:cNvSpPr/>
          <p:nvPr/>
        </p:nvSpPr>
        <p:spPr>
          <a:xfrm>
            <a:off x="3291840" y="3108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rusim CLI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291840" y="33832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Единая точка входа: сборка, запуск,</a:t>
            </a:r>
            <a:endParaRPr lang="en-US" sz="1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сценарии, модели, плагины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4069080"/>
            <a:ext cx="8229600" cy="822960"/>
          </a:xfrm>
          <a:prstGeom prst="rect">
            <a:avLst/>
          </a:prstGeom>
          <a:solidFill>
            <a:srgbClr val="F8FAFC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9" name="Text 27"/>
          <p:cNvSpPr/>
          <p:nvPr/>
        </p:nvSpPr>
        <p:spPr>
          <a:xfrm>
            <a:off x="640080" y="41605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JSON API 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/health  /contract  /reset  /step</a:t>
            </a:r>
            <a:r>
              <a:rPr lang="en-US" sz="1100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|     </a:t>
            </a: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/api/models/*  /api/autopilot/*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" y="45262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SignalR для real-time обновлений  |  Поддержка режимов unity-sim и real-robot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6210304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gradFill>
            <a:gsLst>
              <a:gs pos="0">
                <a:srgbClr val="2563EB"/>
              </a:gs>
              <a:gs pos="50000">
                <a:srgbClr val="7C3AED"/>
              </a:gs>
              <a:gs pos="100000">
                <a:srgbClr val="059669"/>
              </a:gs>
            </a:gsLst>
            <a:lin ang="0" scaled="1"/>
          </a:gra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Unity Runtime: симуляция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Физический движок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30759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6 Rigidbody, настраиваемая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физика для каждого робота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Step-based API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22199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/step: throttle, steer, brake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Ответ: state + reward + done + frame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28803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Каталог контрактов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13639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/contract: доступные роботы,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трассы, сенсоры, актуаторы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3794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Сценарии YAML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405079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Конфигурация трека, робота, сенсоров,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маршрута, логирования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0" y="1005840"/>
            <a:ext cx="4114800" cy="2377440"/>
          </a:xfrm>
          <a:prstGeom prst="rect">
            <a:avLst/>
          </a:prstGeom>
          <a:solidFill>
            <a:srgbClr val="F8FAFC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pic>
        <p:nvPicPr>
          <p:cNvPr id="14" name="Image 0" descr="/Users/nikitagorovenko/Documents/Projects/uav-simulator/docs/reports/presentation/unity-overview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63440" y="1097280"/>
            <a:ext cx="3931920" cy="219456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4572000" y="3566160"/>
            <a:ext cx="4114800" cy="1371600"/>
          </a:xfrm>
          <a:prstGeom prst="rect">
            <a:avLst/>
          </a:prstGeom>
          <a:solidFill>
            <a:srgbClr val="F8FAFC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pic>
        <p:nvPicPr>
          <p:cNvPr id="16" name="Image 1" descr="/Users/nikitagorovenko/Documents/Projects/uav-simulator/docs/reports/presentation/unity-robot-closeup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63440" y="3657600"/>
            <a:ext cx="3931920" cy="1188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6511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gradFill>
            <a:gsLst>
              <a:gs pos="0">
                <a:srgbClr val="2563EB"/>
              </a:gs>
              <a:gs pos="50000">
                <a:srgbClr val="7C3AED"/>
              </a:gs>
              <a:gs pos="100000">
                <a:srgbClr val="059669"/>
              </a:gs>
            </a:gsLst>
            <a:lin ang="0" scaled="1"/>
          </a:gra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Робот KS0223: модель и сенсоры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828800" cy="1005840"/>
          </a:xfrm>
          <a:prstGeom prst="rect">
            <a:avLst/>
          </a:prstGeom>
          <a:solidFill>
            <a:srgbClr val="F8FAFC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2.2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м/с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6459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Макс. скорость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0" y="1005840"/>
            <a:ext cx="1828800" cy="1005840"/>
          </a:xfrm>
          <a:prstGeom prst="rect">
            <a:avLst/>
          </a:prstGeom>
          <a:solidFill>
            <a:srgbClr val="F8FAFC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2651760" y="10515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651760" y="14630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м/с²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651760" y="16459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Ускорение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1005840"/>
            <a:ext cx="1828800" cy="1005840"/>
          </a:xfrm>
          <a:prstGeom prst="rect">
            <a:avLst/>
          </a:prstGeom>
          <a:solidFill>
            <a:srgbClr val="F8FAFC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4754880" y="10515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1280x720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754880" y="14630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px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54880" y="16459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Камера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66560" y="1005840"/>
            <a:ext cx="1828800" cy="1005840"/>
          </a:xfrm>
          <a:prstGeom prst="rect">
            <a:avLst/>
          </a:prstGeom>
          <a:solidFill>
            <a:srgbClr val="F8FAFC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8" name="Text 16"/>
          <p:cNvSpPr/>
          <p:nvPr/>
        </p:nvSpPr>
        <p:spPr>
          <a:xfrm>
            <a:off x="6858000" y="10515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858000" y="14630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сегм.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58000" y="16459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Датчик линии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2286000"/>
            <a:ext cx="3931920" cy="2468880"/>
          </a:xfrm>
          <a:prstGeom prst="rect">
            <a:avLst/>
          </a:prstGeom>
          <a:solidFill>
            <a:srgbClr val="F8FAFC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2" name="Shape 20"/>
          <p:cNvSpPr/>
          <p:nvPr/>
        </p:nvSpPr>
        <p:spPr>
          <a:xfrm>
            <a:off x="457200" y="2286000"/>
            <a:ext cx="3931920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3" name="Text 21"/>
          <p:cNvSpPr/>
          <p:nvPr/>
        </p:nvSpPr>
        <p:spPr>
          <a:xfrm>
            <a:off x="640080" y="23774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Сенсорное оснащение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2788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Фронтальная камера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286000" y="2788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1280x720 JPEG, 95% качество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" y="3154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Датчик линии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286000" y="31546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сегментов, нормализованный массив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" y="35204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Ультразвуковой датчик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286000" y="35204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Дальность 3.5 м, фронтальный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0080" y="3886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Одометрия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286000" y="38862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Позиция, скорость, поворот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0080" y="42519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Спидометр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286000" y="42519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Скорость в м/с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2286000"/>
            <a:ext cx="3931920" cy="2468880"/>
          </a:xfrm>
          <a:prstGeom prst="rect">
            <a:avLst/>
          </a:prstGeom>
          <a:solidFill>
            <a:srgbClr val="F8FAFC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35" name="Shape 33"/>
          <p:cNvSpPr/>
          <p:nvPr/>
        </p:nvSpPr>
        <p:spPr>
          <a:xfrm>
            <a:off x="4754880" y="2286000"/>
            <a:ext cx="3931920" cy="54864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6" name="Text 34"/>
          <p:cNvSpPr/>
          <p:nvPr/>
        </p:nvSpPr>
        <p:spPr>
          <a:xfrm>
            <a:off x="4937760" y="23774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управления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937760" y="278892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Дифференциальный привод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мотора с независимым PWM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Высокоуровневое управление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throttle [-1..1], steer [-1..1], brake [0..1]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Низкоуровневое управление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left_pwm_norm, right_pwm_norm [-1..1]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Физика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Rigidbody, linear/angular damping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973863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gradFill>
            <a:gsLst>
              <a:gs pos="0">
                <a:srgbClr val="2563EB"/>
              </a:gs>
              <a:gs pos="50000">
                <a:srgbClr val="7C3AED"/>
              </a:gs>
              <a:gs pos="100000">
                <a:srgbClr val="059669"/>
              </a:gs>
            </a:gsLst>
            <a:lin ang="0" scaled="1"/>
          </a:gra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Оператор: Backend + Web UI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931920" cy="1645920"/>
          </a:xfrm>
          <a:prstGeom prst="rect">
            <a:avLst/>
          </a:prstGeom>
          <a:solidFill>
            <a:srgbClr val="F8FAFC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64008" cy="16459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685800" y="10515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Backend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141732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ModelRegistryService — загрузка, каталог, активация моделей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85800" y="169164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AutopilotService — inference loop с ONNX Runtime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85800" y="196596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RuntimeProvider — абстракция unity-sim / real-robot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224028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SessionManager — мульти-клиентские сессии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2880360"/>
            <a:ext cx="3931920" cy="1965960"/>
          </a:xfrm>
          <a:prstGeom prst="rect">
            <a:avLst/>
          </a:prstGeom>
          <a:solidFill>
            <a:srgbClr val="F8FAFC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3" name="Shape 11"/>
          <p:cNvSpPr/>
          <p:nvPr/>
        </p:nvSpPr>
        <p:spPr>
          <a:xfrm>
            <a:off x="457200" y="2880360"/>
            <a:ext cx="64008" cy="1965960"/>
          </a:xfrm>
          <a:prstGeom prst="rect">
            <a:avLst/>
          </a:prstGeom>
          <a:solidFill>
            <a:srgbClr val="BC8C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685800" y="29260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Web UI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3291840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Операторский пульт управления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85800" y="3538728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Видеопоток с камеры робота (MJPEG)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85800" y="3785616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Визуализация телеметрии в реальном времени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85800" y="4032504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Загрузка и активация моделей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85800" y="4279392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Запуск/остановка автопилота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85800" y="4526280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Подключение к unity-sim или real-robot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54880" y="1005840"/>
            <a:ext cx="3931920" cy="3840480"/>
          </a:xfrm>
          <a:prstGeom prst="rect">
            <a:avLst/>
          </a:prstGeom>
          <a:solidFill>
            <a:srgbClr val="F8FAFC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pic>
        <p:nvPicPr>
          <p:cNvPr id="22" name="Image 0" descr="/Users/nikitagorovenko/Documents/Projects/uav-simulator/docs/report/prediploma-practice/evidence/dashboard-p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846320" y="1097280"/>
            <a:ext cx="374904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7533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gradFill>
            <a:gsLst>
              <a:gs pos="0">
                <a:srgbClr val="2563EB"/>
              </a:gs>
              <a:gs pos="50000">
                <a:srgbClr val="7C3AED"/>
              </a:gs>
              <a:gs pos="100000">
                <a:srgbClr val="059669"/>
              </a:gs>
            </a:gsLst>
            <a:lin ang="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Lifecycle: от обучения до запуска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1188720" cy="1280160"/>
          </a:xfrm>
          <a:prstGeom prst="rect">
            <a:avLst/>
          </a:prstGeom>
          <a:solidFill>
            <a:srgbClr val="F8FAFC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118872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2344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6002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обучение</a:t>
            </a:r>
            <a:endParaRPr lang="en-US" sz="1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Python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554480" y="146304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783080" y="1097280"/>
            <a:ext cx="1188720" cy="1280160"/>
          </a:xfrm>
          <a:prstGeom prst="rect">
            <a:avLst/>
          </a:prstGeom>
          <a:solidFill>
            <a:srgbClr val="F8FAFC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783080" y="1097280"/>
            <a:ext cx="118872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2" name="Text 10"/>
          <p:cNvSpPr/>
          <p:nvPr/>
        </p:nvSpPr>
        <p:spPr>
          <a:xfrm>
            <a:off x="1828800" y="12344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828800" y="16002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+</a:t>
            </a:r>
            <a:endParaRPr lang="en-US" sz="1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971800" y="146304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200400" y="1097280"/>
            <a:ext cx="1188720" cy="1280160"/>
          </a:xfrm>
          <a:prstGeom prst="rect">
            <a:avLst/>
          </a:prstGeom>
          <a:solidFill>
            <a:srgbClr val="F8FAFC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0" y="1097280"/>
            <a:ext cx="11887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3246120" y="12344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46120" y="16002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Загрузка</a:t>
            </a:r>
            <a:endParaRPr lang="en-US" sz="1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backend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389120" y="146304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617720" y="1097280"/>
            <a:ext cx="1188720" cy="1280160"/>
          </a:xfrm>
          <a:prstGeom prst="rect">
            <a:avLst/>
          </a:prstGeom>
          <a:solidFill>
            <a:srgbClr val="F8FAFC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17720" y="1097280"/>
            <a:ext cx="11887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4663440" y="12344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663440" y="16002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Выбор</a:t>
            </a:r>
            <a:endParaRPr lang="en-US" sz="1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версии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806440" y="146304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035040" y="1097280"/>
            <a:ext cx="1188720" cy="1280160"/>
          </a:xfrm>
          <a:prstGeom prst="rect">
            <a:avLst/>
          </a:prstGeom>
          <a:solidFill>
            <a:srgbClr val="F8FAFC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35040" y="1097280"/>
            <a:ext cx="11887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7" name="Text 25"/>
          <p:cNvSpPr/>
          <p:nvPr/>
        </p:nvSpPr>
        <p:spPr>
          <a:xfrm>
            <a:off x="6080760" y="12344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080760" y="16002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Autopilot</a:t>
            </a:r>
            <a:endParaRPr lang="en-US" sz="1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223760" y="146304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452360" y="1097280"/>
            <a:ext cx="1188720" cy="1280160"/>
          </a:xfrm>
          <a:prstGeom prst="rect">
            <a:avLst/>
          </a:prstGeom>
          <a:solidFill>
            <a:srgbClr val="F8FAFC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452360" y="1097280"/>
            <a:ext cx="1188720" cy="54864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32" name="Text 30"/>
          <p:cNvSpPr/>
          <p:nvPr/>
        </p:nvSpPr>
        <p:spPr>
          <a:xfrm>
            <a:off x="7498080" y="12344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498080" y="16002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</a:t>
            </a:r>
            <a:endParaRPr lang="en-US" sz="1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оценка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2743200"/>
            <a:ext cx="3931920" cy="2011680"/>
          </a:xfrm>
          <a:prstGeom prst="rect">
            <a:avLst/>
          </a:prstGeom>
          <a:solidFill>
            <a:srgbClr val="F8FAFC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57200" y="2743200"/>
            <a:ext cx="393192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" y="28346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Артефакт модели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40080" y="320040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model.onnx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Нейронная сеть в формате ONNX
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metadata.json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Схемы входов/выходов, сенсоры
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metrics.json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KPI обучения, baseline метрики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754880" y="2743200"/>
            <a:ext cx="3931920" cy="2011680"/>
          </a:xfrm>
          <a:prstGeom prst="rect">
            <a:avLst/>
          </a:prstGeom>
          <a:solidFill>
            <a:srgbClr val="F8FAFC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39" name="Image 0" descr="/Users/nikitagorovenko/Documents/Projects/uav-simulator/docs/report/prediploma-practice/evidence/model-control-e2e-2026-03-29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846320" y="2834640"/>
            <a:ext cx="3749040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7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gradFill>
            <a:gsLst>
              <a:gs pos="0">
                <a:srgbClr val="2563EB"/>
              </a:gs>
              <a:gs pos="50000">
                <a:srgbClr val="7C3AED"/>
              </a:gs>
              <a:gs pos="100000">
                <a:srgbClr val="059669"/>
              </a:gs>
            </a:gsLst>
            <a:lin ang="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Система плагинов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931920" cy="2011680"/>
          </a:xfrm>
          <a:prstGeom prst="rect">
            <a:avLst/>
          </a:prstGeom>
          <a:solidFill>
            <a:srgbClr val="F8FAFC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39319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0789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плагинов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417320"/>
            <a:ext cx="3566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SDK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UPM-пакет с базовыми классами и контрактами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PluginRegistry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ScriptableObject: каталог, ID, версионирование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Формат: .rusim-plugin.zip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manifest.json + ассеты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3931920" cy="2011680"/>
          </a:xfrm>
          <a:prstGeom prst="rect">
            <a:avLst/>
          </a:prstGeom>
          <a:solidFill>
            <a:srgbClr val="F8FAFC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05840"/>
            <a:ext cx="3931920" cy="54864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0789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Типы плагинов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1417320"/>
            <a:ext cx="3566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Plugin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Физика, модель управления, сенсоры, визуальная модель робота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Plugin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Среда, разметка, границы, точки спавна и маршрут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8229600" cy="1645920"/>
          </a:xfrm>
          <a:prstGeom prst="rect">
            <a:avLst/>
          </a:prstGeom>
          <a:solidFill>
            <a:srgbClr val="F8FAFC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32004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Каталог платформы</a:t>
            </a:r>
            <a:endParaRPr lang="en-US" sz="1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/>
        </p:nvGraphicFramePr>
        <p:xfrm>
          <a:off x="640080" y="3566160"/>
          <a:ext cx="7863840" cy="149352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Тип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Описание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vehicle.ks0223.v1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Vehicle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Двухколёсный робот KS0223 (базовый)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vehicle.prometeo.sport.v1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Vehicle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Четырёхколёсный автомобиль Prometeo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vehicle.drone.simple.v1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Vehicle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Квадрокоптер Simple Drone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track.roadsystem_realistic.v2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Реалистичная трасса с Road System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track.basic_arena.v1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Базовая арена с стенами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track.cardboard_corridor.v1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A-B коридор для обучения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41057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gradFill>
            <a:gsLst>
              <a:gs pos="0">
                <a:srgbClr val="2563EB"/>
              </a:gs>
              <a:gs pos="50000">
                <a:srgbClr val="7C3AED"/>
              </a:gs>
              <a:gs pos="100000">
                <a:srgbClr val="059669"/>
              </a:gs>
            </a:gsLst>
            <a:lin ang="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Обучение модели в Python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1371600"/>
          </a:xfrm>
          <a:prstGeom prst="rect">
            <a:avLst/>
          </a:prstGeom>
          <a:solidFill>
            <a:srgbClr val="F8FAFC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0515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обучения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1508760"/>
            <a:ext cx="1645920" cy="6400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52704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Gymnasium Env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18288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Обёртка API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37744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743200" y="1508760"/>
            <a:ext cx="1645920" cy="6400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" name="Text 10"/>
          <p:cNvSpPr/>
          <p:nvPr/>
        </p:nvSpPr>
        <p:spPr>
          <a:xfrm>
            <a:off x="2788920" y="152704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Algorithm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88920" y="18288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/ SAC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38912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754880" y="1508760"/>
            <a:ext cx="1645920" cy="6400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6" name="Text 14"/>
          <p:cNvSpPr/>
          <p:nvPr/>
        </p:nvSpPr>
        <p:spPr>
          <a:xfrm>
            <a:off x="4800600" y="152704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Export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00600" y="18288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torch.onnx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0080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766560" y="1508760"/>
            <a:ext cx="1645920" cy="6400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0" name="Text 18"/>
          <p:cNvSpPr/>
          <p:nvPr/>
        </p:nvSpPr>
        <p:spPr>
          <a:xfrm>
            <a:off x="6812280" y="152704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Eval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12280" y="18288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эпизодов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2651760"/>
            <a:ext cx="3931920" cy="2103120"/>
          </a:xfrm>
          <a:prstGeom prst="rect">
            <a:avLst/>
          </a:prstGeom>
          <a:solidFill>
            <a:srgbClr val="F8FAFC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2651760"/>
            <a:ext cx="39319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27249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Space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3063240"/>
            <a:ext cx="3566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Policy (мультимодальная):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Camera: 84x84x3 RGB (downsampled)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Ultrasonic: float [0..3.5] m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Policy (числовая):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Speed, steer, distance_to_center,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heading_error, ultrasonic, line_tracker[5]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2651760"/>
            <a:ext cx="3931920" cy="2103120"/>
          </a:xfrm>
          <a:prstGeom prst="rect">
            <a:avLst/>
          </a:prstGeom>
          <a:solidFill>
            <a:srgbClr val="F8FAFC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2651760"/>
            <a:ext cx="393192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8" name="Text 26"/>
          <p:cNvSpPr/>
          <p:nvPr/>
        </p:nvSpPr>
        <p:spPr>
          <a:xfrm>
            <a:off x="4937760" y="27249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Space &amp; Reward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937760" y="3063240"/>
            <a:ext cx="3566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Space: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throttle [-1..1]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steer [-1..1]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Shaping: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progress along route
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deviation from centerline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out of bounds penalty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goal reached bonus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394366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gradFill>
            <a:gsLst>
              <a:gs pos="0">
                <a:srgbClr val="2563EB"/>
              </a:gs>
              <a:gs pos="50000">
                <a:srgbClr val="7C3AED"/>
              </a:gs>
              <a:gs pos="100000">
                <a:srgbClr val="059669"/>
              </a:gs>
            </a:gsLst>
            <a:lin ang="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Интеграция с ROS2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1554480"/>
          </a:xfrm>
          <a:prstGeom prst="rect">
            <a:avLst/>
          </a:prstGeom>
          <a:solidFill>
            <a:srgbClr val="F8FAFC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0515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ROS2 Bridge: симулятор как ROS2-робот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1554480"/>
            <a:ext cx="1463040" cy="6400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6002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377440" y="16459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926080" y="1554480"/>
            <a:ext cx="1463040" cy="6400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" name="Text 9"/>
          <p:cNvSpPr/>
          <p:nvPr/>
        </p:nvSpPr>
        <p:spPr>
          <a:xfrm>
            <a:off x="2971800" y="16002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API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389120" y="16459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937760" y="1554480"/>
            <a:ext cx="1463040" cy="6400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" name="Text 12"/>
          <p:cNvSpPr/>
          <p:nvPr/>
        </p:nvSpPr>
        <p:spPr>
          <a:xfrm>
            <a:off x="4983480" y="16002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ros2_bridge.py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0" y="16459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949440" y="1554480"/>
            <a:ext cx="1463040" cy="6400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7" name="Text 15"/>
          <p:cNvSpPr/>
          <p:nvPr/>
        </p:nvSpPr>
        <p:spPr>
          <a:xfrm>
            <a:off x="6995160" y="16002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ROS2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834640"/>
            <a:ext cx="3931920" cy="2011680"/>
          </a:xfrm>
          <a:prstGeom prst="rect">
            <a:avLst/>
          </a:prstGeom>
          <a:solidFill>
            <a:srgbClr val="F8FAFC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834640"/>
            <a:ext cx="39319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29260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Topics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324612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/uavsim/ks0223/odom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" y="349300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/uavsim/ks0223/camera/front/image_raw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0080" y="373989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/uavsim/ks0223/ultrasonic/front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0080" y="398678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/uavsim/ks0223/line_tracker/front_norm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0080" y="423367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/uavsim/ks0223/speedometer/mps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0080" y="448056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/uavsim/ks0223/battery_state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54880" y="2834640"/>
            <a:ext cx="3931920" cy="2011680"/>
          </a:xfrm>
          <a:prstGeom prst="rect">
            <a:avLst/>
          </a:prstGeom>
          <a:solidFill>
            <a:srgbClr val="F8FAFC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54880" y="2834640"/>
            <a:ext cx="393192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9" name="Text 27"/>
          <p:cNvSpPr/>
          <p:nvPr/>
        </p:nvSpPr>
        <p:spPr>
          <a:xfrm>
            <a:off x="4937760" y="29260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 Topics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937760" y="324612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/cmd_vel
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geometry_msgs/Twist
Совместим со стандартной
ROS навигацией
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/uavsim/ks0223/cmd_drive
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std_msgs/Float32MultiArray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Прямое PWM-управление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344678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gradFill>
            <a:gsLst>
              <a:gs pos="0">
                <a:srgbClr val="2563EB"/>
              </a:gs>
              <a:gs pos="50000">
                <a:srgbClr val="7C3AED"/>
              </a:gs>
              <a:gs pos="100000">
                <a:srgbClr val="059669"/>
              </a:gs>
            </a:gsLst>
            <a:lin ang="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Sim-to-Real: от симуляции к реальному роботу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931920" cy="2743200"/>
          </a:xfrm>
          <a:prstGeom prst="rect">
            <a:avLst/>
          </a:prstGeom>
          <a:solidFill>
            <a:srgbClr val="F8FAFC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39319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0972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Симуляция (unity-sim)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5087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Runtime HTTP API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0080" y="18470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Идеальная физика и сенсоры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0080" y="218541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Ускоренное время симуляции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0080" y="252374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Полная воспроизводимость (seed)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0080" y="28620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Безопасные эксперименты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0080" y="32004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Неограниченные итерации обучения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54880" y="1005840"/>
            <a:ext cx="3931920" cy="2743200"/>
          </a:xfrm>
          <a:prstGeom prst="rect">
            <a:avLst/>
          </a:prstGeom>
          <a:solidFill>
            <a:srgbClr val="F8FAFC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005840"/>
            <a:ext cx="393192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10972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Реальный робот (real-robot)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37760" y="15087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подключение к Raspberry Pi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937760" y="18470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Реальные сенсоры с шумом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937760" y="218541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UDP видеопоток с камеры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937760" y="252374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add-on (:8765)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937760" y="28620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 же ONNX модель, тот же backend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937760" y="32004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Единый Web UI для управления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4023360"/>
            <a:ext cx="8229600" cy="822960"/>
          </a:xfrm>
          <a:prstGeom prst="rect">
            <a:avLst/>
          </a:prstGeom>
          <a:solidFill>
            <a:srgbClr val="F8FAFC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4023360"/>
            <a:ext cx="82296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1605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Единый backend: переключение между unity-sim и real-robot через RuntimeProvider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080" y="44348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модель, один Web UI, один API — меняется только транспорт к runtime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9821079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gradFill>
            <a:gsLst>
              <a:gs pos="0">
                <a:srgbClr val="2563EB"/>
              </a:gs>
              <a:gs pos="50000">
                <a:srgbClr val="7C3AED"/>
              </a:gs>
              <a:gs pos="100000">
                <a:srgbClr val="059669"/>
              </a:gs>
            </a:gsLst>
            <a:lin ang="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Экспериментальная оценка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9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005840"/>
          <a:ext cx="502920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852160" y="1005840"/>
            <a:ext cx="2834640" cy="548640"/>
          </a:xfrm>
          <a:prstGeom prst="rect">
            <a:avLst/>
          </a:prstGeom>
          <a:solidFill>
            <a:srgbClr val="F8FAFC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943600" y="1024128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20/20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223760" y="10515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Эпизодов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оценено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852160" y="1645920"/>
            <a:ext cx="2834640" cy="548640"/>
          </a:xfrm>
          <a:prstGeom prst="rect">
            <a:avLst/>
          </a:prstGeom>
          <a:solidFill>
            <a:srgbClr val="F8FAFC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943600" y="1664208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203.9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7223760" y="16916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Средние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шаги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852160" y="2286000"/>
            <a:ext cx="2834640" cy="548640"/>
          </a:xfrm>
          <a:prstGeom prst="rect">
            <a:avLst/>
          </a:prstGeom>
          <a:solidFill>
            <a:srgbClr val="F8FAFC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943600" y="2304288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0%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7223760" y="23317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852160" y="2926080"/>
            <a:ext cx="2834640" cy="548640"/>
          </a:xfrm>
          <a:prstGeom prst="rect">
            <a:avLst/>
          </a:prstGeom>
          <a:solidFill>
            <a:srgbClr val="F8FAFC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943600" y="2944368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C8C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0.76 м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7223760" y="29718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Макс.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отклонение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57200" y="3794760"/>
            <a:ext cx="8229600" cy="1051560"/>
          </a:xfrm>
          <a:prstGeom prst="rect">
            <a:avLst/>
          </a:prstGeom>
          <a:solidFill>
            <a:srgbClr val="F8FAFC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57200" y="3794760"/>
            <a:ext cx="822960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0" name="Text 17"/>
          <p:cNvSpPr/>
          <p:nvPr/>
        </p:nvSpPr>
        <p:spPr>
          <a:xfrm>
            <a:off x="640080" y="3886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Анализ: базовая модель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40080" y="416052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модель проходит прямой участок, но не справляется с поворотом (все 20 эпизодов: out_of_bounds).
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Стабильное поведение (203.9 шагов) подтверждает воспроизводимость платформы. </a:t>
            </a: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работает E2E.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3271696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gradFill>
            <a:gsLst>
              <a:gs pos="0">
                <a:srgbClr val="2563EB"/>
              </a:gs>
              <a:gs pos="50000">
                <a:srgbClr val="7C3AED"/>
              </a:gs>
              <a:gs pos="100000">
                <a:srgbClr val="059669"/>
              </a:gs>
            </a:gsLst>
            <a:lin ang="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Практическая значимость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560320" cy="2286000"/>
          </a:xfrm>
          <a:prstGeom prst="rect">
            <a:avLst/>
          </a:prstGeom>
          <a:solidFill>
            <a:srgbClr val="F8FAFC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25603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143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Исследователи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155448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Платформа для экспериментов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RL-алгоритмами в управлении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роботами. Воспроизводимость,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сценарии, KPI-оценка.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005840"/>
            <a:ext cx="2560320" cy="2286000"/>
          </a:xfrm>
          <a:prstGeom prst="rect">
            <a:avLst/>
          </a:prstGeom>
          <a:solidFill>
            <a:srgbClr val="F8FAFC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005840"/>
            <a:ext cx="25603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1143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Разработчики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29000" y="155448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Расширяемая архитектура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плагинами. Plugin SDK,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шаблоны, CLI для быстрого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старта новых роботов и трасс.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005840"/>
            <a:ext cx="2560320" cy="2286000"/>
          </a:xfrm>
          <a:prstGeom prst="rect">
            <a:avLst/>
          </a:prstGeom>
          <a:solidFill>
            <a:srgbClr val="F8FAFC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005840"/>
            <a:ext cx="2560320" cy="54864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15" name="Text 13"/>
          <p:cNvSpPr/>
          <p:nvPr/>
        </p:nvSpPr>
        <p:spPr>
          <a:xfrm>
            <a:off x="6263640" y="1143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Образование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263640" y="155448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Безопасная среда для обучения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робототехнике. Web UI оператора,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ROS2 интеграция, готовые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сценарии демонстрации.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566160"/>
            <a:ext cx="8229600" cy="1280160"/>
          </a:xfrm>
          <a:prstGeom prst="rect">
            <a:avLst/>
          </a:prstGeom>
          <a:solidFill>
            <a:srgbClr val="F8FAFC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0" y="36576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Ключевые показатели платформы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39776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40080" y="4343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роботов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240280" y="39776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2240280" y="4343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трассы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840480" y="39776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3840480" y="4343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ROS2 топиков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40680" y="39776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E2E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5440680" y="4343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040880" y="39776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7040880" y="4343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режима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9534908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gradFill>
            <a:gsLst>
              <a:gs pos="0">
                <a:srgbClr val="2563EB"/>
              </a:gs>
              <a:gs pos="50000">
                <a:srgbClr val="7C3AED"/>
              </a:gs>
              <a:gs pos="100000">
                <a:srgbClr val="059669"/>
              </a:gs>
            </a:gsLst>
            <a:lin ang="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Заключение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7680960" cy="4114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051560"/>
            <a:ext cx="54864" cy="411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069848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Спроектирована и реализована модульная архитектура платформы симуляции (4 компонента)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31520" y="1554480"/>
            <a:ext cx="7680960" cy="4114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1554480"/>
            <a:ext cx="54864" cy="411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572768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Реализована физическая модель робота KS0223 с 5 типами сенсоров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31520" y="2057400"/>
            <a:ext cx="7680960" cy="4114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2057400"/>
            <a:ext cx="54864" cy="411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2075688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Разработана система плагинов с SDK, шаблонами и CLI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31520" y="2560320"/>
            <a:ext cx="7680960" cy="4114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2560320"/>
            <a:ext cx="54864" cy="411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2578608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Реализован полный model lifecycle: обучение, загрузка, активация, запуск, оценка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31520" y="3063240"/>
            <a:ext cx="7680960" cy="4114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" y="3063240"/>
            <a:ext cx="54864" cy="411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3081528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 ROS2 Bridge для sim-to-real трансфера (6 publish + 2 subscribe топика)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31520" y="3566160"/>
            <a:ext cx="7680960" cy="4114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" y="3566160"/>
            <a:ext cx="54864" cy="411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3584448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Проведена экспериментальная оценка на 20 эпизодах, подтверждена воспроизводимость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1520" y="41605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Направления развития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31520" y="448056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Randomization для улучшения sim-to-real трансфера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сценарии для обучения взаимодействию роботов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1332278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76148486046]">
  <a:themeElements>
    <a:clrScheme name="Modern Defense">
      <a:dk1>
        <a:srgbClr val="1E293B"/>
      </a:dk1>
      <a:lt1>
        <a:srgbClr val="FFFFFF"/>
      </a:lt1>
      <a:dk2>
        <a:srgbClr val="334155"/>
      </a:dk2>
      <a:lt2>
        <a:srgbClr val="F1F5F9"/>
      </a:lt2>
      <a:accent1>
        <a:srgbClr val="2563EB"/>
      </a:accent1>
      <a:accent2>
        <a:srgbClr val="059669"/>
      </a:accent2>
      <a:accent3>
        <a:srgbClr val="7C3AED"/>
      </a:accent3>
      <a:accent4>
        <a:srgbClr val="DC2626"/>
      </a:accent4>
      <a:accent5>
        <a:srgbClr val="EA580C"/>
      </a:accent5>
      <a:accent6>
        <a:srgbClr val="0891B2"/>
      </a:accent6>
      <a:hlink>
        <a:srgbClr val="0563C1"/>
      </a:hlink>
      <a:folHlink>
        <a:srgbClr val="954F72"/>
      </a:folHlink>
    </a:clrScheme>
    <a:fontScheme name="Modern Defense">
      <a:majorFont>
        <a:latin typeface="Inter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E2CB1EB-1406-E047-9040-4392F3E85700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a8782dd1-1e01-443e-a72b-0923a29cf630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3181</TotalTime>
  <Words>2917</Words>
  <Application>Microsoft Macintosh PowerPoint</Application>
  <PresentationFormat>Экран (16:9)</PresentationFormat>
  <Paragraphs>428</Paragraphs>
  <Slides>16</Slides>
  <Notes>16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2" baseType="lpstr">
      <vt:lpstr>Arial</vt:lpstr>
      <vt:lpstr>Calibri</vt:lpstr>
      <vt:lpstr>Consolas</vt:lpstr>
      <vt:lpstr>Georgia</vt:lpstr>
      <vt:lpstr>Inter</vt:lpstr>
      <vt:lpstr>Office Theme [1776148486046]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Расширяемая платформа симуляции для обучения автономного управления робототехнической платформой KS0223</dc:title>
  <dc:subject>PptxGenJS Presentation</dc:subject>
  <dc:creator>Горовенко Никита Михайлович</dc:creator>
  <cp:lastModifiedBy>Nikita Gorovenko</cp:lastModifiedBy>
  <cp:revision>3</cp:revision>
  <dcterms:created xsi:type="dcterms:W3CDTF">2026-04-13T18:00:09Z</dcterms:created>
  <dcterms:modified xsi:type="dcterms:W3CDTF">2026-04-16T07:04:39Z</dcterms:modified>
</cp:coreProperties>
</file>